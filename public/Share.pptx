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Lst>
  <p:sldSz cy="5143500" cx="9144000"/>
  <p:notesSz cx="6858000" cy="9144000"/>
  <p:embeddedFontLst>
    <p:embeddedFont>
      <p:font typeface="Roboto"/>
      <p:regular r:id="rId13"/>
      <p:bold r:id="rId14"/>
      <p:italic r:id="rId15"/>
      <p:boldItalic r:id="rId16"/>
    </p:embeddedFont>
    <p:embeddedFont>
      <p:font typeface="Merriweather"/>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Petr Máš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Roboto-regular.fntdata"/><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Merriweather-regular.fntdata"/><Relationship Id="rId16" Type="http://schemas.openxmlformats.org/officeDocument/2006/relationships/font" Target="fonts/Roboto-boldItalic.fntdata"/><Relationship Id="rId5" Type="http://schemas.openxmlformats.org/officeDocument/2006/relationships/slideMaster" Target="slideMasters/slideMaster1.xml"/><Relationship Id="rId19" Type="http://schemas.openxmlformats.org/officeDocument/2006/relationships/font" Target="fonts/Merriweather-italic.fntdata"/><Relationship Id="rId6" Type="http://schemas.openxmlformats.org/officeDocument/2006/relationships/notesMaster" Target="notesMasters/notesMaster1.xml"/><Relationship Id="rId18" Type="http://schemas.openxmlformats.org/officeDocument/2006/relationships/font" Target="fonts/Merriweather-bold.fntdata"/><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7T18:52:24.868">
    <p:pos x="6000" y="0"/>
    <p:text>Member ride patterns align with routine, work‑related commuting.
Casual rides are less time‑dependent, indicating leisure‑oriented usage.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07T19:33:04.939">
    <p:pos x="135" y="1404"/>
    <p:text>This sample‑based analysis demonstrates that the difference between annual members and casual riders is not only about how often they ride, but fundamentally about how they use bikes.
Casual riders display leisure‑oriented, highly variable usage, whereas annual members exhibit stable, predictable trip behavior, consistent with bikes being used as a regular mode of transportation.
These behavioral differences help explain why membership provides greater long‑term value and highlight which aspects of usage should be emphasized when encouraging casual riders to convert into annual members.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4-07T19:37:29.766">
    <p:pos x="6000" y="0"/>
    <p:text>Target casual riders during weekday commuting hours by promoting membership as a cost‑effective solution for frequent, routine travel. Weekend usage is better suited for engagement and brand awareness rather than direct conversion.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5116a68b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5116a68b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5116a68b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5116a68b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5116a68b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5116a68b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d5116a68b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d5116a68b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5116a68b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5116a68b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c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omments" Target="../comments/commen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72875" y="895250"/>
            <a:ext cx="5990700" cy="198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cs" sz="2000"/>
              <a:t>How annual members and casual riders use Cyclistic bikes differently</a:t>
            </a:r>
            <a:endParaRPr sz="2000"/>
          </a:p>
        </p:txBody>
      </p:sp>
      <p:sp>
        <p:nvSpPr>
          <p:cNvPr id="65" name="Google Shape;65;p13"/>
          <p:cNvSpPr txBox="1"/>
          <p:nvPr>
            <p:ph idx="1" type="subTitle"/>
          </p:nvPr>
        </p:nvSpPr>
        <p:spPr>
          <a:xfrm>
            <a:off x="6355550" y="4034500"/>
            <a:ext cx="2627400" cy="808800"/>
          </a:xfrm>
          <a:prstGeom prst="rect">
            <a:avLst/>
          </a:prstGeom>
        </p:spPr>
        <p:txBody>
          <a:bodyPr anchorCtr="0" anchor="t" bIns="91425" lIns="91425" spcFirstLastPara="1" rIns="91425" wrap="square" tIns="91425">
            <a:normAutofit lnSpcReduction="10000"/>
          </a:bodyPr>
          <a:lstStyle/>
          <a:p>
            <a:pPr indent="0" lvl="0" marL="0" rtl="0" algn="l">
              <a:lnSpc>
                <a:spcPct val="80000"/>
              </a:lnSpc>
              <a:spcBef>
                <a:spcPts val="0"/>
              </a:spcBef>
              <a:spcAft>
                <a:spcPts val="0"/>
              </a:spcAft>
              <a:buSzPts val="935"/>
              <a:buNone/>
            </a:pPr>
            <a:r>
              <a:rPr b="1" lang="cs" sz="3800">
                <a:solidFill>
                  <a:schemeClr val="lt1"/>
                </a:solidFill>
                <a:latin typeface="Merriweather"/>
                <a:ea typeface="Merriweather"/>
                <a:cs typeface="Merriweather"/>
                <a:sym typeface="Merriweather"/>
              </a:rPr>
              <a:t>Cyclistics</a:t>
            </a:r>
            <a:endParaRPr b="1" sz="3800">
              <a:solidFill>
                <a:schemeClr val="lt1"/>
              </a:solidFill>
              <a:latin typeface="Merriweather"/>
              <a:ea typeface="Merriweather"/>
              <a:cs typeface="Merriweather"/>
              <a:sym typeface="Merriweather"/>
            </a:endParaRPr>
          </a:p>
          <a:p>
            <a:pPr indent="0" lvl="0" marL="0" rtl="0" algn="l">
              <a:lnSpc>
                <a:spcPct val="80000"/>
              </a:lnSpc>
              <a:spcBef>
                <a:spcPts val="0"/>
              </a:spcBef>
              <a:spcAft>
                <a:spcPts val="0"/>
              </a:spcAft>
              <a:buSzPts val="935"/>
              <a:buNone/>
            </a:pPr>
            <a:r>
              <a:t/>
            </a:r>
            <a:endParaRPr sz="2035">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42725" y="330500"/>
            <a:ext cx="3706500" cy="61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t>Problem</a:t>
            </a:r>
            <a:endParaRPr/>
          </a:p>
        </p:txBody>
      </p:sp>
      <p:sp>
        <p:nvSpPr>
          <p:cNvPr id="71" name="Google Shape;71;p14"/>
          <p:cNvSpPr txBox="1"/>
          <p:nvPr>
            <p:ph idx="1" type="body"/>
          </p:nvPr>
        </p:nvSpPr>
        <p:spPr>
          <a:xfrm>
            <a:off x="4644675" y="1076125"/>
            <a:ext cx="4166400" cy="3523500"/>
          </a:xfrm>
          <a:prstGeom prst="rect">
            <a:avLst/>
          </a:prstGeom>
        </p:spPr>
        <p:txBody>
          <a:bodyPr anchorCtr="0" anchor="t" bIns="91425" lIns="91425" spcFirstLastPara="1" rIns="91425" wrap="square" tIns="91425">
            <a:normAutofit fontScale="85000" lnSpcReduction="20000"/>
          </a:bodyPr>
          <a:lstStyle/>
          <a:p>
            <a:pPr indent="0" lvl="0" marL="0" rtl="0" algn="l">
              <a:lnSpc>
                <a:spcPct val="142857"/>
              </a:lnSpc>
              <a:spcBef>
                <a:spcPts val="0"/>
              </a:spcBef>
              <a:spcAft>
                <a:spcPts val="0"/>
              </a:spcAft>
              <a:buClr>
                <a:srgbClr val="000000"/>
              </a:buClr>
              <a:buSzPct val="65625"/>
              <a:buFont typeface="Arial"/>
              <a:buNone/>
            </a:pPr>
            <a:r>
              <a:rPr lang="cs" sz="1600">
                <a:solidFill>
                  <a:srgbClr val="000000"/>
                </a:solidFill>
                <a:latin typeface="Arial"/>
                <a:ea typeface="Arial"/>
                <a:cs typeface="Arial"/>
                <a:sym typeface="Arial"/>
              </a:rPr>
              <a:t>Analyze historical bike‑share data to compare annual members and casual riders.</a:t>
            </a:r>
            <a:endParaRPr sz="1600">
              <a:solidFill>
                <a:srgbClr val="000000"/>
              </a:solidFill>
              <a:latin typeface="Arial"/>
              <a:ea typeface="Arial"/>
              <a:cs typeface="Arial"/>
              <a:sym typeface="Arial"/>
            </a:endParaRPr>
          </a:p>
          <a:p>
            <a:pPr indent="0" lvl="0" marL="0" rtl="0" algn="l">
              <a:lnSpc>
                <a:spcPct val="142857"/>
              </a:lnSpc>
              <a:spcBef>
                <a:spcPts val="0"/>
              </a:spcBef>
              <a:spcAft>
                <a:spcPts val="0"/>
              </a:spcAft>
              <a:buClr>
                <a:srgbClr val="000000"/>
              </a:buClr>
              <a:buSzPct val="65625"/>
              <a:buFont typeface="Arial"/>
              <a:buNone/>
            </a:pPr>
            <a:r>
              <a:rPr lang="cs" sz="1600">
                <a:solidFill>
                  <a:srgbClr val="000000"/>
                </a:solidFill>
                <a:latin typeface="Arial"/>
                <a:ea typeface="Arial"/>
                <a:cs typeface="Arial"/>
                <a:sym typeface="Arial"/>
              </a:rPr>
              <a:t>Examine differences in:</a:t>
            </a:r>
            <a:endParaRPr sz="1600">
              <a:solidFill>
                <a:srgbClr val="000000"/>
              </a:solidFill>
              <a:latin typeface="Arial"/>
              <a:ea typeface="Arial"/>
              <a:cs typeface="Arial"/>
              <a:sym typeface="Arial"/>
            </a:endParaRPr>
          </a:p>
          <a:p>
            <a:pPr indent="-314960" lvl="0" marL="457200" rtl="0" algn="l">
              <a:spcBef>
                <a:spcPts val="1100"/>
              </a:spcBef>
              <a:spcAft>
                <a:spcPts val="0"/>
              </a:spcAft>
              <a:buClr>
                <a:srgbClr val="000000"/>
              </a:buClr>
              <a:buSzPct val="100000"/>
              <a:buFont typeface="Arial"/>
              <a:buChar char="●"/>
            </a:pPr>
            <a:r>
              <a:rPr lang="cs" sz="1600">
                <a:solidFill>
                  <a:srgbClr val="000000"/>
                </a:solidFill>
                <a:latin typeface="Arial"/>
                <a:ea typeface="Arial"/>
                <a:cs typeface="Arial"/>
                <a:sym typeface="Arial"/>
              </a:rPr>
              <a:t>Ride frequency</a:t>
            </a:r>
            <a:endParaRPr sz="1600">
              <a:solidFill>
                <a:srgbClr val="000000"/>
              </a:solidFill>
              <a:latin typeface="Arial"/>
              <a:ea typeface="Arial"/>
              <a:cs typeface="Arial"/>
              <a:sym typeface="Arial"/>
            </a:endParaRPr>
          </a:p>
          <a:p>
            <a:pPr indent="-314960" lvl="0" marL="457200" rtl="0" algn="l">
              <a:spcBef>
                <a:spcPts val="0"/>
              </a:spcBef>
              <a:spcAft>
                <a:spcPts val="0"/>
              </a:spcAft>
              <a:buClr>
                <a:srgbClr val="000000"/>
              </a:buClr>
              <a:buSzPct val="100000"/>
              <a:buFont typeface="Arial"/>
              <a:buChar char="●"/>
            </a:pPr>
            <a:r>
              <a:rPr lang="cs" sz="1600">
                <a:solidFill>
                  <a:srgbClr val="000000"/>
                </a:solidFill>
                <a:latin typeface="Arial"/>
                <a:ea typeface="Arial"/>
                <a:cs typeface="Arial"/>
                <a:sym typeface="Arial"/>
              </a:rPr>
              <a:t>Timing of usage (weekday vs weekend, time of day)</a:t>
            </a:r>
            <a:endParaRPr sz="1600">
              <a:solidFill>
                <a:srgbClr val="000000"/>
              </a:solidFill>
              <a:latin typeface="Arial"/>
              <a:ea typeface="Arial"/>
              <a:cs typeface="Arial"/>
              <a:sym typeface="Arial"/>
            </a:endParaRPr>
          </a:p>
          <a:p>
            <a:pPr indent="-314960" lvl="0" marL="457200" rtl="0" algn="l">
              <a:spcBef>
                <a:spcPts val="0"/>
              </a:spcBef>
              <a:spcAft>
                <a:spcPts val="0"/>
              </a:spcAft>
              <a:buClr>
                <a:srgbClr val="000000"/>
              </a:buClr>
              <a:buSzPct val="100000"/>
              <a:buFont typeface="Arial"/>
              <a:buChar char="●"/>
            </a:pPr>
            <a:r>
              <a:rPr lang="cs" sz="1600">
                <a:solidFill>
                  <a:srgbClr val="000000"/>
                </a:solidFill>
                <a:latin typeface="Arial"/>
                <a:ea typeface="Arial"/>
                <a:cs typeface="Arial"/>
                <a:sym typeface="Arial"/>
              </a:rPr>
              <a:t>Trip duration and variability</a:t>
            </a:r>
            <a:endParaRPr sz="1600">
              <a:solidFill>
                <a:srgbClr val="000000"/>
              </a:solidFill>
              <a:latin typeface="Arial"/>
              <a:ea typeface="Arial"/>
              <a:cs typeface="Arial"/>
              <a:sym typeface="Arial"/>
            </a:endParaRPr>
          </a:p>
          <a:p>
            <a:pPr indent="0" lvl="0" marL="0" rtl="0" algn="l">
              <a:lnSpc>
                <a:spcPct val="142857"/>
              </a:lnSpc>
              <a:spcBef>
                <a:spcPts val="1100"/>
              </a:spcBef>
              <a:spcAft>
                <a:spcPts val="0"/>
              </a:spcAft>
              <a:buClr>
                <a:srgbClr val="000000"/>
              </a:buClr>
              <a:buSzPct val="65625"/>
              <a:buFont typeface="Arial"/>
              <a:buNone/>
            </a:pPr>
            <a:r>
              <a:rPr lang="cs" sz="1600">
                <a:solidFill>
                  <a:srgbClr val="000000"/>
                </a:solidFill>
                <a:latin typeface="Arial"/>
                <a:ea typeface="Arial"/>
                <a:cs typeface="Arial"/>
                <a:sym typeface="Arial"/>
              </a:rPr>
              <a:t>Use:</a:t>
            </a:r>
            <a:endParaRPr sz="1600">
              <a:solidFill>
                <a:srgbClr val="000000"/>
              </a:solidFill>
              <a:latin typeface="Arial"/>
              <a:ea typeface="Arial"/>
              <a:cs typeface="Arial"/>
              <a:sym typeface="Arial"/>
            </a:endParaRPr>
          </a:p>
          <a:p>
            <a:pPr indent="-314960" lvl="0" marL="457200" rtl="0" algn="l">
              <a:spcBef>
                <a:spcPts val="1100"/>
              </a:spcBef>
              <a:spcAft>
                <a:spcPts val="0"/>
              </a:spcAft>
              <a:buClr>
                <a:srgbClr val="000000"/>
              </a:buClr>
              <a:buSzPct val="100000"/>
              <a:buFont typeface="Arial"/>
              <a:buChar char="●"/>
            </a:pPr>
            <a:r>
              <a:rPr lang="cs" sz="1600">
                <a:solidFill>
                  <a:srgbClr val="000000"/>
                </a:solidFill>
                <a:latin typeface="Arial"/>
                <a:ea typeface="Arial"/>
                <a:cs typeface="Arial"/>
                <a:sym typeface="Arial"/>
              </a:rPr>
              <a:t>Population‑level analysis to understand when and how often bikes are used</a:t>
            </a:r>
            <a:endParaRPr sz="1600">
              <a:solidFill>
                <a:srgbClr val="000000"/>
              </a:solidFill>
              <a:latin typeface="Arial"/>
              <a:ea typeface="Arial"/>
              <a:cs typeface="Arial"/>
              <a:sym typeface="Arial"/>
            </a:endParaRPr>
          </a:p>
          <a:p>
            <a:pPr indent="-314960" lvl="0" marL="457200" rtl="0" algn="l">
              <a:spcBef>
                <a:spcPts val="0"/>
              </a:spcBef>
              <a:spcAft>
                <a:spcPts val="0"/>
              </a:spcAft>
              <a:buClr>
                <a:srgbClr val="000000"/>
              </a:buClr>
              <a:buSzPct val="100000"/>
              <a:buFont typeface="Arial"/>
              <a:buChar char="●"/>
            </a:pPr>
            <a:r>
              <a:rPr lang="cs" sz="1600">
                <a:solidFill>
                  <a:srgbClr val="000000"/>
                </a:solidFill>
                <a:latin typeface="Arial"/>
                <a:ea typeface="Arial"/>
                <a:cs typeface="Arial"/>
                <a:sym typeface="Arial"/>
              </a:rPr>
              <a:t>Sample‑based analysis to understand how riders behave on individual trips</a:t>
            </a:r>
            <a:endParaRPr sz="1600">
              <a:solidFill>
                <a:srgbClr val="000000"/>
              </a:solidFill>
              <a:latin typeface="Arial"/>
              <a:ea typeface="Arial"/>
              <a:cs typeface="Arial"/>
              <a:sym typeface="Arial"/>
            </a:endParaRPr>
          </a:p>
          <a:p>
            <a:pPr indent="0" lvl="0" marL="0" rtl="0" algn="l">
              <a:spcBef>
                <a:spcPts val="1100"/>
              </a:spcBef>
              <a:spcAft>
                <a:spcPts val="1200"/>
              </a:spcAft>
              <a:buNone/>
            </a:pPr>
            <a:r>
              <a:t/>
            </a:r>
            <a:endParaRPr sz="1400">
              <a:latin typeface="Merriweather"/>
              <a:ea typeface="Merriweather"/>
              <a:cs typeface="Merriweather"/>
              <a:sym typeface="Merriweather"/>
            </a:endParaRPr>
          </a:p>
        </p:txBody>
      </p:sp>
      <p:sp>
        <p:nvSpPr>
          <p:cNvPr id="72" name="Google Shape;72;p14"/>
          <p:cNvSpPr txBox="1"/>
          <p:nvPr>
            <p:ph type="title"/>
          </p:nvPr>
        </p:nvSpPr>
        <p:spPr>
          <a:xfrm>
            <a:off x="4940325" y="330500"/>
            <a:ext cx="3575100" cy="118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solidFill>
                  <a:schemeClr val="dk1"/>
                </a:solidFill>
              </a:rPr>
              <a:t>Solution</a:t>
            </a:r>
            <a:endParaRPr>
              <a:solidFill>
                <a:schemeClr val="dk1"/>
              </a:solidFill>
            </a:endParaRPr>
          </a:p>
        </p:txBody>
      </p:sp>
      <p:sp>
        <p:nvSpPr>
          <p:cNvPr id="73" name="Google Shape;73;p14"/>
          <p:cNvSpPr txBox="1"/>
          <p:nvPr>
            <p:ph type="title"/>
          </p:nvPr>
        </p:nvSpPr>
        <p:spPr>
          <a:xfrm>
            <a:off x="0" y="802375"/>
            <a:ext cx="4166400" cy="2308500"/>
          </a:xfrm>
          <a:prstGeom prst="rect">
            <a:avLst/>
          </a:prstGeom>
        </p:spPr>
        <p:txBody>
          <a:bodyPr anchorCtr="0" anchor="t" bIns="91425" lIns="91425" spcFirstLastPara="1" rIns="91425" wrap="square" tIns="91425">
            <a:normAutofit fontScale="90000"/>
          </a:bodyPr>
          <a:lstStyle/>
          <a:p>
            <a:pPr indent="0" lvl="0" marL="0" rtl="0" algn="l">
              <a:lnSpc>
                <a:spcPct val="142857"/>
              </a:lnSpc>
              <a:spcBef>
                <a:spcPts val="0"/>
              </a:spcBef>
              <a:spcAft>
                <a:spcPts val="0"/>
              </a:spcAft>
              <a:buNone/>
            </a:pPr>
            <a:r>
              <a:t/>
            </a:r>
            <a:endParaRPr sz="1050">
              <a:solidFill>
                <a:srgbClr val="000000"/>
              </a:solidFill>
              <a:latin typeface="Arial"/>
              <a:ea typeface="Arial"/>
              <a:cs typeface="Arial"/>
              <a:sym typeface="Arial"/>
            </a:endParaRPr>
          </a:p>
          <a:p>
            <a:pPr indent="0" lvl="0" marL="457200" rtl="0" algn="l">
              <a:lnSpc>
                <a:spcPct val="100000"/>
              </a:lnSpc>
              <a:spcBef>
                <a:spcPts val="0"/>
              </a:spcBef>
              <a:spcAft>
                <a:spcPts val="0"/>
              </a:spcAft>
              <a:buNone/>
            </a:pPr>
            <a:r>
              <a:t/>
            </a:r>
            <a:endParaRPr sz="1400"/>
          </a:p>
          <a:p>
            <a:pPr indent="-308610" lvl="0" marL="457200" rtl="0" algn="l">
              <a:lnSpc>
                <a:spcPct val="100000"/>
              </a:lnSpc>
              <a:spcBef>
                <a:spcPts val="0"/>
              </a:spcBef>
              <a:spcAft>
                <a:spcPts val="0"/>
              </a:spcAft>
              <a:buSzPct val="96552"/>
              <a:buChar char="●"/>
            </a:pPr>
            <a:r>
              <a:rPr lang="cs" sz="1450"/>
              <a:t>Annual members are significantly more long-term value  than casual riders.</a:t>
            </a:r>
            <a:endParaRPr sz="1450"/>
          </a:p>
          <a:p>
            <a:pPr indent="0" lvl="0" marL="457200" rtl="0" algn="l">
              <a:lnSpc>
                <a:spcPct val="100000"/>
              </a:lnSpc>
              <a:spcBef>
                <a:spcPts val="0"/>
              </a:spcBef>
              <a:spcAft>
                <a:spcPts val="0"/>
              </a:spcAft>
              <a:buNone/>
            </a:pPr>
            <a:r>
              <a:t/>
            </a:r>
            <a:endParaRPr sz="1450"/>
          </a:p>
          <a:p>
            <a:pPr indent="-317183" lvl="0" marL="457200" rtl="0" algn="l">
              <a:lnSpc>
                <a:spcPct val="100000"/>
              </a:lnSpc>
              <a:spcBef>
                <a:spcPts val="0"/>
              </a:spcBef>
              <a:spcAft>
                <a:spcPts val="0"/>
              </a:spcAft>
              <a:buSzPct val="100000"/>
              <a:buChar char="●"/>
            </a:pPr>
            <a:r>
              <a:rPr lang="cs" sz="1550"/>
              <a:t>To grow long‑term revenue, Cyclistic needs to convert more casual riders into annual members.</a:t>
            </a:r>
            <a:endParaRPr sz="1550"/>
          </a:p>
          <a:p>
            <a:pPr indent="0" lvl="0" marL="457200" rtl="0" algn="l">
              <a:lnSpc>
                <a:spcPct val="100000"/>
              </a:lnSpc>
              <a:spcBef>
                <a:spcPts val="0"/>
              </a:spcBef>
              <a:spcAft>
                <a:spcPts val="0"/>
              </a:spcAft>
              <a:buNone/>
            </a:pPr>
            <a:r>
              <a:t/>
            </a:r>
            <a:endParaRPr sz="1550"/>
          </a:p>
          <a:p>
            <a:pPr indent="-317183" lvl="0" marL="457200" rtl="0" algn="l">
              <a:lnSpc>
                <a:spcPct val="100000"/>
              </a:lnSpc>
              <a:spcBef>
                <a:spcPts val="0"/>
              </a:spcBef>
              <a:spcAft>
                <a:spcPts val="0"/>
              </a:spcAft>
              <a:buSzPct val="100000"/>
              <a:buChar char="●"/>
            </a:pPr>
            <a:r>
              <a:rPr lang="cs" sz="1550"/>
              <a:t>Effective conversion requires understanding how these two groups use bikes differently.</a:t>
            </a:r>
            <a:endParaRPr sz="15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278525" y="120250"/>
            <a:ext cx="3706500" cy="140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t>Weekday vs Weekend Usage</a:t>
            </a:r>
            <a:endParaRPr/>
          </a:p>
        </p:txBody>
      </p:sp>
      <p:sp>
        <p:nvSpPr>
          <p:cNvPr id="79" name="Google Shape;79;p15"/>
          <p:cNvSpPr txBox="1"/>
          <p:nvPr>
            <p:ph idx="1" type="body"/>
          </p:nvPr>
        </p:nvSpPr>
        <p:spPr>
          <a:xfrm>
            <a:off x="0" y="1295400"/>
            <a:ext cx="4166400" cy="2552700"/>
          </a:xfrm>
          <a:prstGeom prst="rect">
            <a:avLst/>
          </a:prstGeom>
        </p:spPr>
        <p:txBody>
          <a:bodyPr anchorCtr="0" anchor="t" bIns="91425" lIns="91425" spcFirstLastPara="1" rIns="91425" wrap="square" tIns="91425">
            <a:normAutofit/>
          </a:bodyPr>
          <a:lstStyle/>
          <a:p>
            <a:pPr indent="-323850" lvl="0" marL="457200" rtl="0" algn="l">
              <a:lnSpc>
                <a:spcPct val="142857"/>
              </a:lnSpc>
              <a:spcBef>
                <a:spcPts val="0"/>
              </a:spcBef>
              <a:spcAft>
                <a:spcPts val="0"/>
              </a:spcAft>
              <a:buClr>
                <a:schemeClr val="lt1"/>
              </a:buClr>
              <a:buSzPts val="1500"/>
              <a:buChar char="●"/>
            </a:pPr>
            <a:r>
              <a:rPr lang="cs" sz="1250">
                <a:solidFill>
                  <a:schemeClr val="lt1"/>
                </a:solidFill>
                <a:latin typeface="Arial"/>
                <a:ea typeface="Arial"/>
                <a:cs typeface="Arial"/>
                <a:sym typeface="Arial"/>
              </a:rPr>
              <a:t>Annual members generate significantly more rides during working days, indicating routine, commute‑related usage.</a:t>
            </a:r>
            <a:endParaRPr sz="1250">
              <a:solidFill>
                <a:schemeClr val="lt1"/>
              </a:solidFill>
              <a:latin typeface="Arial"/>
              <a:ea typeface="Arial"/>
              <a:cs typeface="Arial"/>
              <a:sym typeface="Arial"/>
            </a:endParaRPr>
          </a:p>
          <a:p>
            <a:pPr indent="0" lvl="0" marL="457200" rtl="0" algn="l">
              <a:lnSpc>
                <a:spcPct val="142857"/>
              </a:lnSpc>
              <a:spcBef>
                <a:spcPts val="0"/>
              </a:spcBef>
              <a:spcAft>
                <a:spcPts val="0"/>
              </a:spcAft>
              <a:buNone/>
            </a:pPr>
            <a:r>
              <a:t/>
            </a:r>
            <a:endParaRPr sz="1250">
              <a:solidFill>
                <a:schemeClr val="lt1"/>
              </a:solidFill>
              <a:latin typeface="Arial"/>
              <a:ea typeface="Arial"/>
              <a:cs typeface="Arial"/>
              <a:sym typeface="Arial"/>
            </a:endParaRPr>
          </a:p>
          <a:p>
            <a:pPr indent="-323850" lvl="0" marL="457200" rtl="0" algn="l">
              <a:lnSpc>
                <a:spcPct val="142857"/>
              </a:lnSpc>
              <a:spcBef>
                <a:spcPts val="0"/>
              </a:spcBef>
              <a:spcAft>
                <a:spcPts val="0"/>
              </a:spcAft>
              <a:buClr>
                <a:schemeClr val="lt1"/>
              </a:buClr>
              <a:buSzPts val="1500"/>
              <a:buChar char="●"/>
            </a:pPr>
            <a:r>
              <a:rPr lang="cs" sz="1250">
                <a:solidFill>
                  <a:schemeClr val="lt1"/>
                </a:solidFill>
                <a:latin typeface="Arial"/>
                <a:ea typeface="Arial"/>
                <a:cs typeface="Arial"/>
                <a:sym typeface="Arial"/>
              </a:rPr>
              <a:t>Weekend ride volumes are relatively similar across both rider types, suggesting leisure‑oriented behavior regardless of membership status.</a:t>
            </a:r>
            <a:endParaRPr sz="1500">
              <a:solidFill>
                <a:schemeClr val="lt1"/>
              </a:solidFill>
            </a:endParaRPr>
          </a:p>
        </p:txBody>
      </p:sp>
      <p:pic>
        <p:nvPicPr>
          <p:cNvPr id="80" name="Google Shape;80;p15"/>
          <p:cNvPicPr preferRelativeResize="0"/>
          <p:nvPr/>
        </p:nvPicPr>
        <p:blipFill>
          <a:blip r:embed="rId3">
            <a:alphaModFix/>
          </a:blip>
          <a:stretch>
            <a:fillRect/>
          </a:stretch>
        </p:blipFill>
        <p:spPr>
          <a:xfrm>
            <a:off x="4297575" y="1091175"/>
            <a:ext cx="4846425" cy="30059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152400" y="7747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t>Time of the day usage pattern</a:t>
            </a:r>
            <a:endParaRPr/>
          </a:p>
        </p:txBody>
      </p:sp>
      <p:pic>
        <p:nvPicPr>
          <p:cNvPr id="86" name="Google Shape;86;p16"/>
          <p:cNvPicPr preferRelativeResize="0"/>
          <p:nvPr/>
        </p:nvPicPr>
        <p:blipFill>
          <a:blip r:embed="rId4">
            <a:alphaModFix/>
          </a:blip>
          <a:stretch>
            <a:fillRect/>
          </a:stretch>
        </p:blipFill>
        <p:spPr>
          <a:xfrm>
            <a:off x="152400" y="1277025"/>
            <a:ext cx="8823899" cy="3714075"/>
          </a:xfrm>
          <a:prstGeom prst="rect">
            <a:avLst/>
          </a:prstGeom>
          <a:noFill/>
          <a:ln>
            <a:noFill/>
          </a:ln>
        </p:spPr>
      </p:pic>
      <p:sp>
        <p:nvSpPr>
          <p:cNvPr id="87" name="Google Shape;87;p16"/>
          <p:cNvSpPr txBox="1"/>
          <p:nvPr/>
        </p:nvSpPr>
        <p:spPr>
          <a:xfrm>
            <a:off x="383150" y="611350"/>
            <a:ext cx="7384800" cy="6657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lt1"/>
              </a:buClr>
              <a:buSzPts val="1400"/>
              <a:buFont typeface="Roboto"/>
              <a:buChar char="●"/>
            </a:pPr>
            <a:r>
              <a:rPr lang="cs" sz="1150">
                <a:solidFill>
                  <a:schemeClr val="lt1"/>
                </a:solidFill>
              </a:rPr>
              <a:t>Annual members show pronounced usage peaks during morning and evening commuting hours.</a:t>
            </a:r>
            <a:endParaRPr sz="1150">
              <a:solidFill>
                <a:schemeClr val="lt1"/>
              </a:solidFill>
            </a:endParaRPr>
          </a:p>
          <a:p>
            <a:pPr indent="-317500" lvl="0" marL="457200" rtl="0" algn="l">
              <a:lnSpc>
                <a:spcPct val="100000"/>
              </a:lnSpc>
              <a:spcBef>
                <a:spcPts val="0"/>
              </a:spcBef>
              <a:spcAft>
                <a:spcPts val="0"/>
              </a:spcAft>
              <a:buClr>
                <a:schemeClr val="lt1"/>
              </a:buClr>
              <a:buSzPts val="1400"/>
              <a:buFont typeface="Roboto"/>
              <a:buChar char="●"/>
            </a:pPr>
            <a:r>
              <a:rPr lang="cs" sz="1150">
                <a:solidFill>
                  <a:schemeClr val="lt1"/>
                </a:solidFill>
              </a:rPr>
              <a:t>Casual riders exhibit a more evenly distributed usage pattern throughout the day.</a:t>
            </a:r>
            <a:endParaRPr sz="1300">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86100" y="165275"/>
            <a:ext cx="9057900" cy="885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cs">
                <a:latin typeface="Arial"/>
                <a:ea typeface="Arial"/>
                <a:cs typeface="Arial"/>
                <a:sym typeface="Arial"/>
              </a:rPr>
              <a:t>Trip Duration Reveals Fundamental Behavioral Differences</a:t>
            </a:r>
            <a:endParaRPr>
              <a:latin typeface="Arial"/>
              <a:ea typeface="Arial"/>
              <a:cs typeface="Arial"/>
              <a:sym typeface="Arial"/>
            </a:endParaRPr>
          </a:p>
          <a:p>
            <a:pPr indent="0" lvl="0" marL="0" rtl="0" algn="l">
              <a:lnSpc>
                <a:spcPct val="100000"/>
              </a:lnSpc>
              <a:spcBef>
                <a:spcPts val="0"/>
              </a:spcBef>
              <a:spcAft>
                <a:spcPts val="0"/>
              </a:spcAft>
              <a:buSzPts val="990"/>
              <a:buNone/>
            </a:pPr>
            <a:r>
              <a:t/>
            </a:r>
            <a:endParaRPr sz="2620"/>
          </a:p>
        </p:txBody>
      </p:sp>
      <p:pic>
        <p:nvPicPr>
          <p:cNvPr id="93" name="Google Shape;93;p17"/>
          <p:cNvPicPr preferRelativeResize="0"/>
          <p:nvPr/>
        </p:nvPicPr>
        <p:blipFill>
          <a:blip r:embed="rId4">
            <a:alphaModFix/>
          </a:blip>
          <a:stretch>
            <a:fillRect/>
          </a:stretch>
        </p:blipFill>
        <p:spPr>
          <a:xfrm>
            <a:off x="214863" y="2230375"/>
            <a:ext cx="8714273" cy="2913125"/>
          </a:xfrm>
          <a:prstGeom prst="rect">
            <a:avLst/>
          </a:prstGeom>
          <a:noFill/>
          <a:ln>
            <a:noFill/>
          </a:ln>
        </p:spPr>
      </p:pic>
      <p:sp>
        <p:nvSpPr>
          <p:cNvPr id="94" name="Google Shape;94;p17"/>
          <p:cNvSpPr txBox="1"/>
          <p:nvPr/>
        </p:nvSpPr>
        <p:spPr>
          <a:xfrm>
            <a:off x="362500" y="1386000"/>
            <a:ext cx="8608200" cy="885000"/>
          </a:xfrm>
          <a:prstGeom prst="rect">
            <a:avLst/>
          </a:prstGeom>
          <a:noFill/>
          <a:ln>
            <a:noFill/>
          </a:ln>
        </p:spPr>
        <p:txBody>
          <a:bodyPr anchorCtr="0" anchor="t" bIns="91425" lIns="91425" spcFirstLastPara="1" rIns="91425" wrap="square" tIns="91425">
            <a:noAutofit/>
          </a:bodyPr>
          <a:lstStyle/>
          <a:p>
            <a:pPr indent="-295275" lvl="0" marL="457200" rtl="0" algn="l">
              <a:lnSpc>
                <a:spcPct val="142857"/>
              </a:lnSpc>
              <a:spcBef>
                <a:spcPts val="0"/>
              </a:spcBef>
              <a:spcAft>
                <a:spcPts val="0"/>
              </a:spcAft>
              <a:buSzPts val="1050"/>
              <a:buChar char="●"/>
            </a:pPr>
            <a:r>
              <a:rPr b="1" lang="cs" sz="1050">
                <a:latin typeface="Merriweather"/>
                <a:ea typeface="Merriweather"/>
                <a:cs typeface="Merriweather"/>
                <a:sym typeface="Merriweather"/>
              </a:rPr>
              <a:t>Casual riders exhibit longer and highly variable trip durations</a:t>
            </a:r>
            <a:r>
              <a:rPr lang="cs" sz="1050">
                <a:latin typeface="Merriweather"/>
                <a:ea typeface="Merriweather"/>
                <a:cs typeface="Merriweather"/>
                <a:sym typeface="Merriweather"/>
              </a:rPr>
              <a:t>, especially on weekends, indicating leisure‑oriented usage.</a:t>
            </a:r>
            <a:endParaRPr sz="950">
              <a:latin typeface="Merriweather"/>
              <a:ea typeface="Merriweather"/>
              <a:cs typeface="Merriweather"/>
              <a:sym typeface="Merriweather"/>
            </a:endParaRPr>
          </a:p>
          <a:p>
            <a:pPr indent="-295275" lvl="0" marL="457200" rtl="0" algn="l">
              <a:lnSpc>
                <a:spcPct val="142857"/>
              </a:lnSpc>
              <a:spcBef>
                <a:spcPts val="0"/>
              </a:spcBef>
              <a:spcAft>
                <a:spcPts val="0"/>
              </a:spcAft>
              <a:buSzPts val="1050"/>
              <a:buChar char="●"/>
            </a:pPr>
            <a:r>
              <a:rPr b="1" lang="cs" sz="1050">
                <a:latin typeface="Merriweather"/>
                <a:ea typeface="Merriweather"/>
                <a:cs typeface="Merriweather"/>
                <a:sym typeface="Merriweather"/>
              </a:rPr>
              <a:t>Annual members take shorter and more consistent trips</a:t>
            </a:r>
            <a:r>
              <a:rPr lang="cs" sz="1050">
                <a:latin typeface="Merriweather"/>
                <a:ea typeface="Merriweather"/>
                <a:cs typeface="Merriweather"/>
                <a:sym typeface="Merriweather"/>
              </a:rPr>
              <a:t>, with minimal differences between working days and weekends.</a:t>
            </a:r>
            <a:endParaRPr sz="1050">
              <a:latin typeface="Merriweather"/>
              <a:ea typeface="Merriweather"/>
              <a:cs typeface="Merriweather"/>
              <a:sym typeface="Merriweather"/>
            </a:endParaRPr>
          </a:p>
          <a:p>
            <a:pPr indent="0" lvl="0" marL="457200" rtl="0" algn="l">
              <a:spcBef>
                <a:spcPts val="0"/>
              </a:spcBef>
              <a:spcAft>
                <a:spcPts val="0"/>
              </a:spcAft>
              <a:buNone/>
            </a:pPr>
            <a:r>
              <a:t/>
            </a:r>
            <a:endParaRPr sz="1200">
              <a:solidFill>
                <a:schemeClr val="dk2"/>
              </a:solidFill>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397650"/>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cs"/>
              <a:t>How we can use this information ?</a:t>
            </a:r>
            <a:endParaRPr/>
          </a:p>
        </p:txBody>
      </p:sp>
      <p:sp>
        <p:nvSpPr>
          <p:cNvPr id="100" name="Google Shape;100;p18"/>
          <p:cNvSpPr txBox="1"/>
          <p:nvPr/>
        </p:nvSpPr>
        <p:spPr>
          <a:xfrm>
            <a:off x="538075" y="1644175"/>
            <a:ext cx="7477800" cy="2881500"/>
          </a:xfrm>
          <a:prstGeom prst="rect">
            <a:avLst/>
          </a:prstGeom>
          <a:noFill/>
          <a:ln>
            <a:noFill/>
          </a:ln>
        </p:spPr>
        <p:txBody>
          <a:bodyPr anchorCtr="0" anchor="t" bIns="91425" lIns="91425" spcFirstLastPara="1" rIns="91425" wrap="square" tIns="91425">
            <a:noAutofit/>
          </a:bodyPr>
          <a:lstStyle/>
          <a:p>
            <a:pPr indent="-311150" lvl="0" marL="457200" rtl="0" algn="l">
              <a:lnSpc>
                <a:spcPct val="142857"/>
              </a:lnSpc>
              <a:spcBef>
                <a:spcPts val="0"/>
              </a:spcBef>
              <a:spcAft>
                <a:spcPts val="0"/>
              </a:spcAft>
              <a:buClr>
                <a:schemeClr val="dk2"/>
              </a:buClr>
              <a:buSzPts val="1300"/>
              <a:buFont typeface="Roboto"/>
              <a:buChar char="●"/>
            </a:pPr>
            <a:r>
              <a:rPr b="1" lang="cs" sz="1050">
                <a:latin typeface="Merriweather"/>
                <a:ea typeface="Merriweather"/>
                <a:cs typeface="Merriweather"/>
                <a:sym typeface="Merriweather"/>
              </a:rPr>
              <a:t>Focus membership conversion efforts on weekday usage and commuting hours, where member behavior is most distinct.</a:t>
            </a:r>
            <a:endParaRPr b="1" sz="1050">
              <a:latin typeface="Merriweather"/>
              <a:ea typeface="Merriweather"/>
              <a:cs typeface="Merriweather"/>
              <a:sym typeface="Merriweather"/>
            </a:endParaRPr>
          </a:p>
          <a:p>
            <a:pPr indent="-311150" lvl="0" marL="457200" rtl="0" algn="l">
              <a:lnSpc>
                <a:spcPct val="142857"/>
              </a:lnSpc>
              <a:spcBef>
                <a:spcPts val="0"/>
              </a:spcBef>
              <a:spcAft>
                <a:spcPts val="0"/>
              </a:spcAft>
              <a:buClr>
                <a:schemeClr val="dk2"/>
              </a:buClr>
              <a:buSzPts val="1300"/>
              <a:buFont typeface="Roboto"/>
              <a:buChar char="●"/>
            </a:pPr>
            <a:r>
              <a:rPr b="1" lang="cs" sz="1050">
                <a:latin typeface="Merriweather"/>
                <a:ea typeface="Merriweather"/>
                <a:cs typeface="Merriweather"/>
                <a:sym typeface="Merriweather"/>
              </a:rPr>
              <a:t>Promote membership benefits for frequent, short trips, such as cost savings and convenience for daily travel.</a:t>
            </a:r>
            <a:endParaRPr b="1" sz="1050">
              <a:latin typeface="Merriweather"/>
              <a:ea typeface="Merriweather"/>
              <a:cs typeface="Merriweather"/>
              <a:sym typeface="Merriweather"/>
            </a:endParaRPr>
          </a:p>
          <a:p>
            <a:pPr indent="-311150" lvl="0" marL="457200" rtl="0" algn="l">
              <a:lnSpc>
                <a:spcPct val="142857"/>
              </a:lnSpc>
              <a:spcBef>
                <a:spcPts val="0"/>
              </a:spcBef>
              <a:spcAft>
                <a:spcPts val="0"/>
              </a:spcAft>
              <a:buClr>
                <a:schemeClr val="dk2"/>
              </a:buClr>
              <a:buSzPts val="1300"/>
              <a:buFont typeface="Roboto"/>
              <a:buChar char="●"/>
            </a:pPr>
            <a:r>
              <a:rPr b="1" lang="cs" sz="1050">
                <a:latin typeface="Merriweather"/>
                <a:ea typeface="Merriweather"/>
                <a:cs typeface="Merriweather"/>
                <a:sym typeface="Merriweather"/>
              </a:rPr>
              <a:t>Use weekend activity primarily for brand awareness, rather than direct membership conversion.</a:t>
            </a:r>
            <a:endParaRPr b="1" sz="1300">
              <a:solidFill>
                <a:schemeClr val="dk2"/>
              </a:solidFill>
              <a:latin typeface="Merriweather"/>
              <a:ea typeface="Merriweather"/>
              <a:cs typeface="Merriweather"/>
              <a:sym typeface="Merriweather"/>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